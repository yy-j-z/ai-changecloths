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dc2daf4ff14f22" /><Relationship Type="http://schemas.openxmlformats.org/officeDocument/2006/relationships/extended-properties" Target="/docProps/app.xml" Id="Rea9a21d236974e8e" /><Relationship Type="http://schemas.openxmlformats.org/officeDocument/2006/relationships/officeDocument" Target="/ppt/presentation.xml" Id="R5004363404164c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dec280dc20448d"/>
  </p:sldMasterIdLst>
  <p:notesMasterIdLst>
    <p:notesMasterId xmlns:r="http://schemas.openxmlformats.org/officeDocument/2006/relationships" r:id="Ra5b2a2628db0447d"/>
  </p:notesMasterIdLst>
  <p:sldIdLst>
    <p:sldId xmlns:r="http://schemas.openxmlformats.org/officeDocument/2006/relationships" id="256" r:id="Rdfb82044a7594c4d"/>
    <p:sldId xmlns:r="http://schemas.openxmlformats.org/officeDocument/2006/relationships" id="257" r:id="R7dbdd3b598934b5a"/>
  </p:sldIdLst>
  <p:sldSz cx="15240000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702b93747749a1" /><Relationship Type="http://schemas.openxmlformats.org/officeDocument/2006/relationships/slideMaster" Target="/ppt/slideMasters/slideMaster1.xml" Id="R49dec280dc20448d" /><Relationship Type="http://schemas.openxmlformats.org/officeDocument/2006/relationships/notesMaster" Target="/ppt/notesMasters/notesMaster1.xml" Id="Ra5b2a2628db0447d" /><Relationship Type="http://schemas.openxmlformats.org/officeDocument/2006/relationships/presProps" Target="/ppt/presProps.xml" Id="Rdcde4a36cc074681" /><Relationship Type="http://schemas.openxmlformats.org/officeDocument/2006/relationships/tableStyles" Target="/ppt/tableStyles.xml" Id="R518afda5dca74b09" /><Relationship Type="http://schemas.openxmlformats.org/officeDocument/2006/relationships/slide" Target="/ppt/slides/slide1.xml" Id="Rdfb82044a7594c4d" /><Relationship Type="http://schemas.openxmlformats.org/officeDocument/2006/relationships/slide" Target="/ppt/slides/slide2.xml" Id="R7dbdd3b598934b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7aa95ada2a4f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6d34d736844db2" /><Relationship Type="http://schemas.openxmlformats.org/officeDocument/2006/relationships/notesMaster" Target="/ppt/notesMasters/notesMaster1.xml" Id="Rd4e2ad5d6bf045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630b23e193494b" /><Relationship Type="http://schemas.openxmlformats.org/officeDocument/2006/relationships/notesMaster" Target="/ppt/notesMasters/notesMaster1.xml" Id="R588f037b4b154c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91eae0bfb74b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ddc66f3fbf4c84" /><Relationship Type="http://schemas.openxmlformats.org/officeDocument/2006/relationships/slideLayout" Target="/ppt/slideLayouts/slideLayout1.xml" Id="Raf70610d560941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70610d560941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00fe3b0b940cb" /><Relationship Type="http://schemas.openxmlformats.org/officeDocument/2006/relationships/notesSlide" Target="/ppt/notesSlides/notesSlide1.xml" Id="R1e6ba510f4214b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18b09cc2d477b" /><Relationship Type="http://schemas.openxmlformats.org/officeDocument/2006/relationships/notesSlide" Target="/ppt/notesSlides/notesSlide2.xml" Id="Ra26337a7bd724d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1D37B7E-41BF-41A6-BB00-3657E28D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419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形镜 AI 变装系统功能架构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F5ED8-6E40-4E04-9066-9095A411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2950"/>
            <a:ext cx="1419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rPr>
              <a:t>浏览器只访问业务 API；智能体通过白名单工具驱动推荐和 3D 换装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2DDBE-F9C4-47B2-82B5-422F24E1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14211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4B79C6"/>
            </a:solidFill>
            <a:prstDash val="dash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416C2-B332-4299-81D0-508B94BA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14288">
            <a:solidFill>
              <a:srgbClr val="4B79C6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接入层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FFEC5-7C6D-42A4-9A21-3819344F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333500"/>
            <a:ext cx="2957513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14288">
            <a:solidFill>
              <a:srgbClr val="4B79C6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用户 Web 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5BC5E-65EB-42FF-BF35-A052A486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963" y="1333500"/>
            <a:ext cx="2957513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14288">
            <a:solidFill>
              <a:srgbClr val="4B79C6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3D 数字人工作台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02D15-0195-474B-BFDD-8624026E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333500"/>
            <a:ext cx="2957513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14288">
            <a:solidFill>
              <a:srgbClr val="4B79C6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穿搭顾问对话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D17AE-1E10-4331-B80C-5CA2D58B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8588" y="1333500"/>
            <a:ext cx="2957513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14288">
            <a:solidFill>
              <a:srgbClr val="4B79C6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商家管理后台（可选）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EA026-CD9E-42DC-82F4-E997EC3B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57425"/>
            <a:ext cx="142113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5A9A63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0F287-8E04-4F42-B474-E52E0879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FF1DC"/>
          </a:solidFill>
          <a:ln xmlns:a="http://schemas.openxmlformats.org/drawingml/2006/main" w="14288">
            <a:solidFill>
              <a:srgbClr val="5A9A63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接口层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2B8438-4632-4B9D-AC2B-42E05E1D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81275"/>
            <a:ext cx="3981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FF1DC"/>
          </a:solidFill>
          <a:ln xmlns:a="http://schemas.openxmlformats.org/drawingml/2006/main" w="14288">
            <a:solidFill>
              <a:srgbClr val="5A9A63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统一业务入口  /api/v1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45AD1-7F4E-42FA-BB27-CCE45726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81275"/>
            <a:ext cx="3981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FF1DC"/>
          </a:solidFill>
          <a:ln xmlns:a="http://schemas.openxmlformats.org/drawingml/2006/main" w="14288">
            <a:solidFill>
              <a:srgbClr val="5A9A63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认证与参数校验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18940-AB59-4BB5-9477-B57683EE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581275"/>
            <a:ext cx="3981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FF1DC"/>
          </a:solidFill>
          <a:ln xmlns:a="http://schemas.openxmlformats.org/drawingml/2006/main" w="14288">
            <a:solidFill>
              <a:srgbClr val="5A9A63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统一响应与错误处理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AC3226-A126-49DB-9784-E96D04BC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86000"/>
            <a:ext cx="1217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rPr>
              <a:t>Vite 开发代理将 /api 请求转发到业务服务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5AD39-3CCB-4B32-A953-868F9E79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28975"/>
            <a:ext cx="142113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8945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8C1288-22EF-4CA7-8683-222162FC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428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CE8D4"/>
          </a:solidFill>
          <a:ln xmlns:a="http://schemas.openxmlformats.org/drawingml/2006/main" w="14288">
            <a:solidFill>
              <a:srgbClr val="D9894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业务服务层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113FBB-F982-4E29-8257-2D998EB8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71850"/>
            <a:ext cx="3981450" cy="500063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CE8D4"/>
          </a:solidFill>
          <a:ln xmlns:a="http://schemas.openxmlformats.org/drawingml/2006/main" w="14288">
            <a:solidFill>
              <a:srgbClr val="D9894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用户与账号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FAE997-E526-4406-91EA-CC77B13B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71850"/>
            <a:ext cx="3981450" cy="500063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CE8D4"/>
          </a:solidFill>
          <a:ln xmlns:a="http://schemas.openxmlformats.org/drawingml/2006/main" w="14288">
            <a:solidFill>
              <a:srgbClr val="D9894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数字人档案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D5735B-269D-4E4D-8DDD-296759E8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371850"/>
            <a:ext cx="3981450" cy="500063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CE8D4"/>
          </a:solidFill>
          <a:ln xmlns:a="http://schemas.openxmlformats.org/drawingml/2006/main" w="14288">
            <a:solidFill>
              <a:srgbClr val="D9894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商品与 SKU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894A0C-90DC-4C34-A1AD-EA76CB65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67163"/>
            <a:ext cx="3981450" cy="500063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CE8D4"/>
          </a:solidFill>
          <a:ln xmlns:a="http://schemas.openxmlformats.org/drawingml/2006/main" w="14288">
            <a:solidFill>
              <a:srgbClr val="D9894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虚拟试装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E4F8D9-F44B-400D-AA4B-1B25C84A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67163"/>
            <a:ext cx="3981450" cy="500063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CE8D4"/>
          </a:solidFill>
          <a:ln xmlns:a="http://schemas.openxmlformats.org/drawingml/2006/main" w="14288">
            <a:solidFill>
              <a:srgbClr val="D9894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收藏与试穿记录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AFA2D1-C427-4521-8BFA-39EE86FD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967163"/>
            <a:ext cx="3981450" cy="500063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CE8D4"/>
          </a:solidFill>
          <a:ln xmlns:a="http://schemas.openxmlformats.org/drawingml/2006/main" w="14288">
            <a:solidFill>
              <a:srgbClr val="D9894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资产与后台管理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55442D-1A75-4576-9798-B51B5923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14875"/>
            <a:ext cx="142113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88A2D"/>
            </a:solidFill>
            <a:prstDash val="dash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A3E801-E6AA-4886-AD4A-7E65FD6C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29175"/>
            <a:ext cx="1428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1C9"/>
          </a:solidFill>
          <a:ln xmlns:a="http://schemas.openxmlformats.org/drawingml/2006/main" w="14288">
            <a:solidFill>
              <a:srgbClr val="B88A2D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智能体层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46D5CB-E8D8-481A-8A7D-B0E37293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38725"/>
            <a:ext cx="3981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1C9"/>
          </a:solidFill>
          <a:ln xmlns:a="http://schemas.openxmlformats.org/drawingml/2006/main" w="14288">
            <a:solidFill>
              <a:srgbClr val="B88A2D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9635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IntentPlanner</a:t>
            </a:r>
          </a:p>
          <a:p xmlns:a="http://schemas.openxmlformats.org/drawingml/2006/main">
            <a:pPr algn="ctr">
              <a:defRPr sz="12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demo / LLM adapter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58281A-850E-4725-A278-D7C028CB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38725"/>
            <a:ext cx="3981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1C9"/>
          </a:solidFill>
          <a:ln xmlns:a="http://schemas.openxmlformats.org/drawingml/2006/main" w="14288">
            <a:solidFill>
              <a:srgbClr val="B88A2D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96357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search_products</a:t>
            </a:r>
          </a:p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商品检索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08C00A-CE76-4BB6-B31A-55F71D84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038725"/>
            <a:ext cx="3981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1C9"/>
          </a:solidFill>
          <a:ln xmlns:a="http://schemas.openxmlformats.org/drawingml/2006/main" w="14288">
            <a:solidFill>
              <a:srgbClr val="B88A2D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96357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recommend_size</a:t>
            </a:r>
          </a:p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尺码推荐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857A20-BA30-4A65-855F-17993354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48325"/>
            <a:ext cx="3981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1C9"/>
          </a:solidFill>
          <a:ln xmlns:a="http://schemas.openxmlformats.org/drawingml/2006/main" w="14288">
            <a:solidFill>
              <a:srgbClr val="B88A2D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96357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check_outfit_compatibility</a:t>
            </a:r>
          </a:p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搭配校验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602A78-7D51-43CB-A638-745A78C8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48325"/>
            <a:ext cx="3981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1C9"/>
          </a:solidFill>
          <a:ln xmlns:a="http://schemas.openxmlformats.org/drawingml/2006/main" w="14288">
            <a:solidFill>
              <a:srgbClr val="B88A2D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96357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apply_outfit</a:t>
            </a:r>
          </a:p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应用换装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028A41-E17A-4BD4-99AD-7A57C611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648325"/>
            <a:ext cx="3981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1C9"/>
          </a:solidFill>
          <a:ln xmlns:a="http://schemas.openxmlformats.org/drawingml/2006/main" w="14288">
            <a:solidFill>
              <a:srgbClr val="B88A2D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96357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tool_events + outfit_action</a:t>
            </a:r>
          </a:p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可审计输出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8E7005-E9DD-4835-9CB7-713078C1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43450"/>
            <a:ext cx="1217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rPr>
              <a:t>大模型只负责理解需求与选择工具，不能直接修改数据库或编造商品信息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25F006-F14C-4FED-B29B-F38005D8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14211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D9897"/>
            </a:solidFill>
            <a:prstDash val="dash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F135DC-1B03-4B21-9370-B7085EC6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24625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DF3F2"/>
          </a:solidFill>
          <a:ln xmlns:a="http://schemas.openxmlformats.org/drawingml/2006/main" w="14288">
            <a:solidFill>
              <a:srgbClr val="3D9897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算法服务层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D40F11-AFC5-4AD7-9A07-BDD85C2F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734175"/>
            <a:ext cx="2957513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DF3F2"/>
          </a:solidFill>
          <a:ln xmlns:a="http://schemas.openxmlformats.org/drawingml/2006/main" w="14288">
            <a:solidFill>
              <a:srgbClr val="3D9897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人脸关键点检测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487E45-B321-48EC-A0E7-6DE8E2B0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963" y="6734175"/>
            <a:ext cx="2957513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DF3F2"/>
          </a:solidFill>
          <a:ln xmlns:a="http://schemas.openxmlformats.org/drawingml/2006/main" w="14288">
            <a:solidFill>
              <a:srgbClr val="3D9897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照片参数估计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AF04A3-2D0D-4D14-B7F7-14C92C01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6734175"/>
            <a:ext cx="2957513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DF3F2"/>
          </a:solidFill>
          <a:ln xmlns:a="http://schemas.openxmlformats.org/drawingml/2006/main" w="14288">
            <a:solidFill>
              <a:srgbClr val="3D9897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身材与脸型参数映射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EE2D7E-6DCE-412A-A1E6-9AFC2990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8588" y="6734175"/>
            <a:ext cx="2957513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DF3F2"/>
          </a:solidFill>
          <a:ln xmlns:a="http://schemas.openxmlformats.org/drawingml/2006/main" w="14288">
            <a:solidFill>
              <a:srgbClr val="3D9897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尺码推荐算法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D12FF7-1A03-4080-A14B-2D8C6297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438900"/>
            <a:ext cx="1217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rPr>
              <a:t>内部算法接口 /internal/v1；算法服务不保存业务数据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07EE55-8D16-4BCA-8444-B40A503A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9525"/>
            <a:ext cx="142113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B69A6"/>
            </a:solidFill>
            <a:prstDash val="dash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E26651-E722-4486-9FCD-8C802EEC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43825"/>
            <a:ext cx="1428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E2F3"/>
          </a:solidFill>
          <a:ln xmlns:a="http://schemas.openxmlformats.org/drawingml/2006/main" w="14288">
            <a:solidFill>
              <a:srgbClr val="8B69A6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数据与资产层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6B12D0-193A-412A-B475-0200AE58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7772400"/>
            <a:ext cx="2957513" cy="1076325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ECE2F3"/>
          </a:solidFill>
          <a:ln xmlns:a="http://schemas.openxmlformats.org/drawingml/2006/main" w="14288">
            <a:solidFill>
              <a:srgbClr val="8B69A6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MySQL 8.4</a:t>
            </a:r>
          </a:p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用户、商品、记录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DAD88C-C3AE-4A9E-9711-A574A1AA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963" y="7772400"/>
            <a:ext cx="2957513" cy="1076325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ECE2F3"/>
          </a:solidFill>
          <a:ln xmlns:a="http://schemas.openxmlformats.org/drawingml/2006/main" w="14288">
            <a:solidFill>
              <a:srgbClr val="8B69A6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向量库（规划）</a:t>
            </a:r>
          </a:p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商品语义检索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B6D6F1-BAA8-4806-B2A1-C82C1E5C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7772400"/>
            <a:ext cx="2957513" cy="1076325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ECE2F3"/>
          </a:solidFill>
          <a:ln xmlns:a="http://schemas.openxmlformats.org/drawingml/2006/main" w="14288">
            <a:solidFill>
              <a:srgbClr val="8B69A6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对象存储 / 本地文件</a:t>
            </a:r>
          </a:p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照片、截图、贴图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193B82-0BA0-4D16-B207-4BE9AFC6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8588" y="7772400"/>
            <a:ext cx="2957513" cy="1076325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ECE2F3"/>
          </a:solidFill>
          <a:ln xmlns:a="http://schemas.openxmlformats.org/drawingml/2006/main" w="14288">
            <a:solidFill>
              <a:srgbClr val="8B69A6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Blender 4.2 → GLB</a:t>
            </a:r>
          </a:p>
          <a:p xmlns:a="http://schemas.openxmlformats.org/drawingml/2006/main">
            <a:pPr algn="ctr">
              <a:def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骨骼、Morph、服装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FA8F69-794E-4A80-8FD8-4B7FDB14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24075"/>
            <a:ext cx="24765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B79C6"/>
          </a:solidFill>
          <a:ln xmlns:a="http://schemas.openxmlformats.org/drawingml/2006/main" w="0">
            <a:solidFill>
              <a:srgbClr val="4B79C6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236021-9E93-4610-8EC1-08BDCC6D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95625"/>
            <a:ext cx="24765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B79C6"/>
          </a:solidFill>
          <a:ln xmlns:a="http://schemas.openxmlformats.org/drawingml/2006/main" w="0">
            <a:solidFill>
              <a:srgbClr val="4B79C6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1F8B79-8996-4D99-B14B-5F574D2B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81525"/>
            <a:ext cx="24765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B79C6"/>
          </a:solidFill>
          <a:ln xmlns:a="http://schemas.openxmlformats.org/drawingml/2006/main" w="0">
            <a:solidFill>
              <a:srgbClr val="4B79C6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64491F5-EDF8-4875-B4FC-D0F7BFA6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276975"/>
            <a:ext cx="24765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B79C6"/>
          </a:solidFill>
          <a:ln xmlns:a="http://schemas.openxmlformats.org/drawingml/2006/main" w="0">
            <a:solidFill>
              <a:srgbClr val="4B79C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2D39BB-4169-46D7-B214-64134AB8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496175"/>
            <a:ext cx="24765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B79C6"/>
          </a:solidFill>
          <a:ln xmlns:a="http://schemas.openxmlformats.org/drawingml/2006/main" w="0">
            <a:solidFill>
              <a:srgbClr val="4B79C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614B6F-89BF-48C4-BAF1-342C1BC7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9048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rPr>
              <a:t>请求与业务动作向下编排，结构化结果返回前端并更新 Three.js 数字人</a:t>
            </a:r>
          </a:p>
        </p:txBody>
      </p:sp>
    </p:spTree>
    <p:extLst>
      <p:ext uri="{BB962C8B-B14F-4D97-AF65-F5344CB8AC3E}">
        <p14:creationId xmlns:p14="http://schemas.microsoft.com/office/powerpoint/2010/main" val="15413272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CAFDD2-2173-4898-8763-4BBACAFA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419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形镜 AI 变装系统总体技术架构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CC30B-4046-4BC9-AD88-4D6749CF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66800"/>
            <a:ext cx="9906000" cy="7524750"/>
          </a:xfrm>
          <a:prstGeom xmlns:a="http://schemas.openxmlformats.org/drawingml/2006/main" prst="roundRect">
            <a:avLst>
              <a:gd name="adj" fmla="val 1013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15240">
            <a:solidFill>
              <a:srgbClr val="75879A"/>
            </a:solidFill>
            <a:prstDash val="dash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C28B1-AC7F-476B-80BF-30B5FA61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1239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rPr>
              <a:t>开发机 / 课程答辩环境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95519-D7A5-48C9-ABC6-46741842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3619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19050">
            <a:solidFill>
              <a:srgbClr val="4B79C6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浏览器客户端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Vue 3 + TypeScript</a:t>
            </a:r>
          </a:p>
          <a:p xmlns:a="http://schemas.openxmlformats.org/drawingml/2006/main">
            <a:pPr algn="ctr">
              <a:def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Three.js + Pinia + Vite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开发端口 5173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72636-911B-4D20-863A-1B3A3F93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71625"/>
            <a:ext cx="4095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CE8D4"/>
          </a:solidFill>
          <a:ln xmlns:a="http://schemas.openxmlformats.org/drawingml/2006/main" w="19050">
            <a:solidFill>
              <a:srgbClr val="D9894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业务服务 server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FastAPI  /api/v1</a:t>
            </a:r>
          </a:p>
          <a:p xmlns:a="http://schemas.openxmlformats.org/drawingml/2006/main">
            <a:pPr algn="ctr">
              <a:def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认证、业务规则、持久化</a:t>
            </a:r>
          </a:p>
          <a:p xmlns:a="http://schemas.openxmlformats.org/drawingml/2006/main">
            <a:pPr algn="ctr">
              <a:def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智能体编排与工具白名单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端口 8000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00321-9270-4572-AB59-C2407C8B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619250"/>
            <a:ext cx="3619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DDF3F2"/>
          </a:solidFill>
          <a:ln xmlns:a="http://schemas.openxmlformats.org/drawingml/2006/main" w="19050">
            <a:solidFill>
              <a:srgbClr val="3D9897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算法服务 ai-service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FastAPI  /internal/v1</a:t>
            </a:r>
          </a:p>
          <a:p xmlns:a="http://schemas.openxmlformats.org/drawingml/2006/main">
            <a:pPr algn="ctr">
              <a:def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关键点与参数估计</a:t>
            </a:r>
          </a:p>
          <a:p xmlns:a="http://schemas.openxmlformats.org/drawingml/2006/main">
            <a:pPr algn="ctr">
              <a:def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尺码推荐算法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端口 8001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A0B07-A987-4E39-B67E-CCA0C367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36195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1C9"/>
          </a:solidFill>
          <a:ln xmlns:a="http://schemas.openxmlformats.org/drawingml/2006/main" w="19050">
            <a:solidFill>
              <a:srgbClr val="B88A2D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3D 资产制作与发布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Blender 4.2 LTS</a:t>
            </a:r>
          </a:p>
          <a:p xmlns:a="http://schemas.openxmlformats.org/drawingml/2006/main">
            <a:pPr algn="ctr">
              <a:defRPr sz="15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统一 Armature / Morph Target</a:t>
            </a:r>
          </a:p>
          <a:p xmlns:a="http://schemas.openxmlformats.org/drawingml/2006/main">
            <a:pPr algn="ctr">
              <a:defRPr sz="15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导出 glTF / GLB</a:t>
            </a:r>
          </a:p>
          <a:p xmlns:a="http://schemas.openxmlformats.org/drawingml/2006/main">
            <a:pPr algn="ctr">
              <a:defRPr sz="15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离线制作，不作为运行时服务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5739C8-D647-46B6-B8C7-96E9F116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91125"/>
            <a:ext cx="409575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CE2F3"/>
          </a:solidFill>
          <a:ln xmlns:a="http://schemas.openxmlformats.org/drawingml/2006/main" w="19050">
            <a:solidFill>
              <a:srgbClr val="8B69A6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数据与文件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MySQL 8.4（Docker Compose）  3306</a:t>
            </a:r>
          </a:p>
          <a:p xmlns:a="http://schemas.openxmlformats.org/drawingml/2006/main">
            <a:pPr algn="ctr">
              <a:defRPr sz="15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用户、商品、数字人、试穿记录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本地文件 / 对象存储</a:t>
            </a:r>
          </a:p>
          <a:p xmlns:a="http://schemas.openxmlformats.org/drawingml/2006/main">
            <a:pPr algn="ctr">
              <a:defRPr sz="15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GLB、贴图、上传照片与截图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1EDC6-BC5F-4CD9-82E2-700B4B1C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36195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DFF1DC"/>
          </a:solidFill>
          <a:ln xmlns:a="http://schemas.openxmlformats.org/drawingml/2006/main" w="19050">
            <a:solidFill>
              <a:srgbClr val="5A9A63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可替换大模型服务（可选）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兼容 Chat Completions 协议</a:t>
            </a:r>
          </a:p>
          <a:p xmlns:a="http://schemas.openxmlformats.org/drawingml/2006/main">
            <a:pPr algn="ctr">
              <a:defRPr sz="142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只返回结构化意图</a:t>
            </a:r>
          </a:p>
          <a:p xmlns:a="http://schemas.openxmlformats.org/drawingml/2006/main">
            <a:pPr algn="ctr">
              <a:defRPr sz="142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商品、库存与尺码仍由服务端工具提供</a:t>
            </a:r>
          </a:p>
          <a:p xmlns:a="http://schemas.openxmlformats.org/drawingml/2006/main">
            <a:pPr algn="ctr">
              <a:defRPr sz="142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默认 demo planner 无需外部网络</a:t>
            </a:r>
          </a:p>
        </p:txBody>
      </p: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238625" y="2786063"/>
            <a:ext cx="1381125" cy="7143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B79C6"/>
            </a:solidFill>
            <a:prstDash val="solid"/>
            <a:headEnd type="triangle" w="med" len="med"/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C6A44-B662-4384-9E55-D6323379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B79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B79C6"/>
                </a:solidFill>
                <a:latin typeface="Microsoft YaHei"/>
                <a:ea typeface="Microsoft YaHei"/>
                <a:cs typeface="Microsoft YaHei"/>
              </a:rPr>
              <a:t>HTTP  /api/v1</a:t>
            </a:r>
          </a:p>
          <a:p xmlns:a="http://schemas.openxmlformats.org/drawingml/2006/main">
            <a:pPr algn="ctr">
              <a:defRPr sz="1050" b="1">
                <a:solidFill>
                  <a:srgbClr val="4B79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B79C6"/>
                </a:solidFill>
                <a:latin typeface="Microsoft YaHei"/>
                <a:ea typeface="Microsoft YaHei"/>
                <a:cs typeface="Microsoft YaHei"/>
              </a:rPr>
              <a:t>Vite 开发代理</a:t>
            </a:r>
          </a:p>
        </p:txBody>
      </p:sp>
      <p:cxnSp>
        <p:nvCxnSpPr>
          <p:cNvPr id="3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9715500" y="2786063"/>
            <a:ext cx="952500" cy="7143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9897"/>
            </a:solidFill>
            <a:prstDash val="solid"/>
            <a:headEnd type="triangle" w="med" len="med"/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18553C-FBF2-4673-9B57-F346024A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952625"/>
            <a:ext cx="97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98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9897"/>
                </a:solidFill>
                <a:latin typeface="Microsoft YaHei"/>
                <a:ea typeface="Microsoft YaHei"/>
                <a:cs typeface="Microsoft YaHei"/>
              </a:rPr>
              <a:t>内部 HTTP</a:t>
            </a:r>
          </a:p>
          <a:p xmlns:a="http://schemas.openxmlformats.org/drawingml/2006/main">
            <a:pPr algn="ctr">
              <a:defRPr sz="900" b="1">
                <a:solidFill>
                  <a:srgbClr val="3D98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D9897"/>
                </a:solidFill>
                <a:latin typeface="Microsoft YaHei"/>
                <a:ea typeface="Microsoft YaHei"/>
                <a:cs typeface="Microsoft YaHei"/>
              </a:rPr>
              <a:t>/internal/v1</a:t>
            </a:r>
          </a:p>
        </p:txBody>
      </p:sp>
      <p:cxnSp>
        <p:nvCxnSpPr>
          <p:cNvPr id="35" name="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667625" y="4143375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69A6"/>
            </a:solidFill>
            <a:prstDash val="solid"/>
            <a:headEnd type="triangle" w="med" len="med"/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F94906-7D7F-4948-87B9-D695866E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767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B6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B69A6"/>
                </a:solidFill>
                <a:latin typeface="Microsoft YaHei"/>
                <a:ea typeface="Microsoft YaHei"/>
                <a:cs typeface="Microsoft YaHei"/>
              </a:rPr>
              <a:t>SQLAlchemy / 文件访问</a:t>
            </a:r>
          </a:p>
        </p:txBody>
      </p:sp>
      <p:cxnSp>
        <p:nvCxnSpPr>
          <p:cNvPr id="37" name=""/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667625" y="4143375"/>
            <a:ext cx="4810125" cy="1190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5A9A63"/>
            </a:solidFill>
            <a:prstDash val="solid"/>
            <a:headEnd type="triangle" w="med" len="med"/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72835C-391B-4474-A28D-65E012FB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3338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9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A9A63"/>
                </a:solidFill>
                <a:latin typeface="Microsoft YaHei"/>
                <a:ea typeface="Microsoft YaHei"/>
                <a:cs typeface="Microsoft YaHei"/>
              </a:rPr>
              <a:t>HTTPS（compatible 模式）</a:t>
            </a:r>
          </a:p>
        </p:txBody>
      </p:sp>
      <p:cxnSp>
        <p:nvCxnSpPr>
          <p:cNvPr id="3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238625" y="6548438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8A2D"/>
            </a:solidFill>
            <a:prstDash val="solid"/>
            <a:headEnd type="triangle" w="med" len="med"/>
            <a:tailEnd type="non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114DE4-6724-41E3-AA1C-4F924C3E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71500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88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8A2D"/>
                </a:solidFill>
                <a:latin typeface="Microsoft YaHei"/>
                <a:ea typeface="Microsoft YaHei"/>
                <a:cs typeface="Microsoft YaHei"/>
              </a:rPr>
              <a:t>发布 GLB 与贴图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210207-DD96-4502-9937-90F3A352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38625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B6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B69A6"/>
                </a:solidFill>
                <a:latin typeface="Microsoft YaHei"/>
                <a:ea typeface="Microsoft YaHei"/>
                <a:cs typeface="Microsoft YaHei"/>
              </a:rPr>
              <a:t>Three.js 通过业务服务返回的资产地址加载 GLB 与贴图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70AEF9-680B-4F4E-A6CE-210848EC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24900"/>
            <a:ext cx="1419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约束：浏览器不直接访问算法服务；ai-service 不访问业务数据库</a:t>
            </a:r>
          </a:p>
        </p:txBody>
      </p:sp>
    </p:spTree>
    <p:extLst>
      <p:ext uri="{BB962C8B-B14F-4D97-AF65-F5344CB8AC3E}">
        <p14:creationId xmlns:p14="http://schemas.microsoft.com/office/powerpoint/2010/main" val="21202745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2026-09-17T09:49:52.0400000Z</dcterms:created>
  <dcterms:modified xsi:type="dcterms:W3CDTF">2026-09-17T09:49:52.0400000Z</dcterms:modified>
</coreProperties>
</file>